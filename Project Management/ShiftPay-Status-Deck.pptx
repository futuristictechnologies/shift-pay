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F7662D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003654"/>
                </a:solidFill>
                <a:latin typeface="Calibri"/>
              </a:rPr>
              <a:t>ShiftPay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1750"/>
          </a:xfrm>
          <a:prstGeom prst="rect">
            <a:avLst/>
          </a:prstGeom>
          <a:solidFill>
            <a:srgbClr val="F76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606676"/>
                </a:solidFill>
                <a:latin typeface="Calibri"/>
              </a:rPr>
              <a:t>Shift logging, compensatory-off entitlement and pay computation, delivered as a scoped ServiceNow application.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2587752" cy="9326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167128"/>
            <a:ext cx="218541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006096"/>
                </a:solidFill>
                <a:latin typeface="Calibri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24328"/>
            <a:ext cx="21854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606676"/>
                </a:solidFill>
                <a:latin typeface="Calibri"/>
              </a:rPr>
              <a:t>work items on the 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057400"/>
            <a:ext cx="2587752" cy="9326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2167128"/>
            <a:ext cx="218541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0B6B3A"/>
                </a:solidFill>
                <a:latin typeface="Calibri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624328"/>
            <a:ext cx="21854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606676"/>
                </a:solidFill>
                <a:latin typeface="Calibri"/>
              </a:rPr>
              <a:t>delivered and closed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57400"/>
            <a:ext cx="2587752" cy="9326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167128"/>
            <a:ext cx="218541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006096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624328"/>
            <a:ext cx="21854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606676"/>
                </a:solidFill>
                <a:latin typeface="Calibri"/>
              </a:rPr>
              <a:t>two-week sprints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2057400"/>
            <a:ext cx="2587752" cy="9326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08008" y="2167128"/>
            <a:ext cx="218541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006096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2624328"/>
            <a:ext cx="21854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606676"/>
                </a:solidFill>
                <a:latin typeface="Calibri"/>
              </a:rPr>
              <a:t>people across six disciplines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10128"/>
            <a:ext cx="54864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003654"/>
                </a:solidFill>
                <a:latin typeface="Calibri"/>
              </a:rPr>
              <a:t>What it does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— An employee logs one shift per day, sees what a compound on-call shift entitles them to, and submits the month for approval.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— A manager reviews a reportee's month, corrects a single day with a recorded reason, and approves or rejects singly or in bulk.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— Pay is aggregated weekly and monthly against a rate captured at compute time, so a later rate change cannot rewrite history.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— A read-only Power BI layer reports over the same tables and reimplements no shift or pay rule.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246120"/>
            <a:ext cx="5056632" cy="23957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3429000"/>
            <a:ext cx="4572000" cy="26597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1" dirty="0">
                <a:solidFill>
                  <a:srgbClr val="003654"/>
                </a:solidFill>
                <a:latin typeface="Calibri"/>
              </a:rPr>
              <a:t>Team</a:t>
            </a:r>
          </a:p>
          <a:p>
            <a:pPr>
              <a:spcAft>
                <a:spcPts val="100"/>
              </a:spcAft>
            </a:pPr>
            <a:r>
              <a:rPr sz="1050" b="1" dirty="0">
                <a:solidFill>
                  <a:srgbClr val="1A1A1A"/>
                </a:solidFill>
                <a:latin typeface="Calibri"/>
              </a:rPr>
              <a:t>Geetha </a:t>
            </a:r>
            <a:r>
              <a:rPr sz="1050" b="1" dirty="0" err="1">
                <a:solidFill>
                  <a:srgbClr val="1A1A1A"/>
                </a:solidFill>
                <a:latin typeface="Calibri"/>
              </a:rPr>
              <a:t>Nallamada</a:t>
            </a:r>
            <a:r>
              <a:rPr sz="1050" b="1" dirty="0">
                <a:solidFill>
                  <a:srgbClr val="1A1A1A"/>
                </a:solidFill>
                <a:latin typeface="Calibri"/>
              </a:rPr>
              <a:t>  ·  Sr Data Analyst</a:t>
            </a:r>
          </a:p>
          <a:p>
            <a:pPr>
              <a:spcAft>
                <a:spcPts val="700"/>
              </a:spcAft>
            </a:pPr>
            <a:r>
              <a:rPr sz="950" b="0" dirty="0">
                <a:solidFill>
                  <a:srgbClr val="606676"/>
                </a:solidFill>
                <a:latin typeface="Calibri"/>
              </a:rPr>
              <a:t>Requirements, reporting design, sign-off</a:t>
            </a:r>
          </a:p>
          <a:p>
            <a:pPr>
              <a:spcAft>
                <a:spcPts val="100"/>
              </a:spcAft>
            </a:pPr>
            <a:r>
              <a:rPr sz="1050" b="1" dirty="0">
                <a:solidFill>
                  <a:srgbClr val="1A1A1A"/>
                </a:solidFill>
                <a:latin typeface="Calibri"/>
              </a:rPr>
              <a:t>Shashank Shukla  ·  IT Consultant</a:t>
            </a:r>
          </a:p>
          <a:p>
            <a:pPr>
              <a:spcAft>
                <a:spcPts val="700"/>
              </a:spcAft>
            </a:pPr>
            <a:r>
              <a:rPr sz="950" b="0" dirty="0">
                <a:solidFill>
                  <a:srgbClr val="606676"/>
                </a:solidFill>
                <a:latin typeface="Calibri"/>
              </a:rPr>
              <a:t>Platform, Script Includes, deployment</a:t>
            </a:r>
          </a:p>
          <a:p>
            <a:pPr>
              <a:spcAft>
                <a:spcPts val="100"/>
              </a:spcAft>
            </a:pPr>
            <a:r>
              <a:rPr sz="1050" b="1" dirty="0">
                <a:solidFill>
                  <a:srgbClr val="1A1A1A"/>
                </a:solidFill>
                <a:latin typeface="Calibri"/>
              </a:rPr>
              <a:t>Rucha Joshi  ·  UI Developer</a:t>
            </a:r>
          </a:p>
          <a:p>
            <a:pPr>
              <a:spcAft>
                <a:spcPts val="700"/>
              </a:spcAft>
            </a:pPr>
            <a:r>
              <a:rPr sz="950" b="0" dirty="0">
                <a:solidFill>
                  <a:srgbClr val="606676"/>
                </a:solidFill>
                <a:latin typeface="Calibri"/>
              </a:rPr>
              <a:t>Service Portal widgets</a:t>
            </a:r>
          </a:p>
          <a:p>
            <a:pPr>
              <a:spcAft>
                <a:spcPts val="100"/>
              </a:spcAft>
            </a:pPr>
            <a:r>
              <a:rPr sz="1050" b="1" dirty="0">
                <a:solidFill>
                  <a:srgbClr val="1A1A1A"/>
                </a:solidFill>
                <a:latin typeface="Calibri"/>
              </a:rPr>
              <a:t>Divya Maram  ·  Data Analyst</a:t>
            </a:r>
          </a:p>
          <a:p>
            <a:pPr>
              <a:spcAft>
                <a:spcPts val="700"/>
              </a:spcAft>
            </a:pPr>
            <a:r>
              <a:rPr sz="950" b="0" dirty="0">
                <a:solidFill>
                  <a:srgbClr val="606676"/>
                </a:solidFill>
                <a:latin typeface="Calibri"/>
              </a:rPr>
              <a:t>Data model, catalogue semantics, measures</a:t>
            </a:r>
          </a:p>
          <a:p>
            <a:pPr>
              <a:spcAft>
                <a:spcPts val="100"/>
              </a:spcAft>
            </a:pPr>
            <a:r>
              <a:rPr sz="1050" b="1" dirty="0">
                <a:solidFill>
                  <a:srgbClr val="1A1A1A"/>
                </a:solidFill>
                <a:latin typeface="Calibri"/>
              </a:rPr>
              <a:t>Neha Chauhan  ·  QA Analyst</a:t>
            </a:r>
          </a:p>
          <a:p>
            <a:pPr>
              <a:spcAft>
                <a:spcPts val="700"/>
              </a:spcAft>
            </a:pPr>
            <a:r>
              <a:rPr sz="950" b="0" dirty="0">
                <a:solidFill>
                  <a:srgbClr val="606676"/>
                </a:solidFill>
                <a:latin typeface="Calibri"/>
              </a:rPr>
              <a:t>Test pack and evidence records</a:t>
            </a:r>
          </a:p>
          <a:p>
            <a:pPr>
              <a:spcAft>
                <a:spcPts val="100"/>
              </a:spcAft>
            </a:pPr>
            <a:r>
              <a:rPr sz="1050" b="1" dirty="0" err="1">
                <a:solidFill>
                  <a:srgbClr val="1A1A1A"/>
                </a:solidFill>
                <a:latin typeface="Calibri"/>
              </a:rPr>
              <a:t>Swopneel</a:t>
            </a:r>
            <a:r>
              <a:rPr sz="1050" b="1" dirty="0">
                <a:solidFill>
                  <a:srgbClr val="1A1A1A"/>
                </a:solidFill>
                <a:latin typeface="Calibri"/>
              </a:rPr>
              <a:t>  ·  SDET</a:t>
            </a:r>
          </a:p>
          <a:p>
            <a:pPr>
              <a:spcAft>
                <a:spcPts val="700"/>
              </a:spcAft>
            </a:pPr>
            <a:r>
              <a:rPr sz="950" b="0" dirty="0">
                <a:solidFill>
                  <a:srgbClr val="606676"/>
                </a:solidFill>
                <a:latin typeface="Calibri"/>
              </a:rPr>
              <a:t>Harness, CI and contract tests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06676"/>
                </a:solidFill>
                <a:latin typeface="Calibri"/>
              </a:rPr>
              <a:t>ShiftPay · ServiceNow scoped application · status as at 3 September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5508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67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F7662D"/>
                </a:solidFill>
                <a:latin typeface="Calibri"/>
              </a:rPr>
              <a:t>HOW THE WORK WAS SEQUENCED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003654"/>
                </a:solidFill>
                <a:latin typeface="Calibri"/>
              </a:rPr>
              <a:t>Delivery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1750"/>
          </a:xfrm>
          <a:prstGeom prst="rect">
            <a:avLst/>
          </a:prstGeom>
          <a:solidFill>
            <a:srgbClr val="F76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06676"/>
                </a:solidFill>
                <a:latin typeface="Calibri"/>
              </a:rPr>
              <a:t>A pre-build phase from 1 May, then seven two-week sprints to 11 September 2026. Scope was fixed at each boundary and nothing was closed to flatter the 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48256"/>
            <a:ext cx="10908792" cy="39319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048256"/>
            <a:ext cx="44450" cy="393192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579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3654"/>
                </a:solidFill>
                <a:latin typeface="Calibri"/>
              </a:rPr>
              <a:t>Pre-build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16712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606676"/>
                </a:solidFill>
                <a:latin typeface="Calibri"/>
              </a:rPr>
              <a:t>01–29 May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671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Test engineering first: harness, nightly pipeline, contract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67128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B6B3A"/>
                </a:solidFill>
                <a:latin typeface="Calibri"/>
              </a:rPr>
              <a:t>Complete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23744"/>
            <a:ext cx="10908792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523744"/>
            <a:ext cx="44450" cy="393192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63347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3654"/>
                </a:solidFill>
                <a:latin typeface="Calibri"/>
              </a:rPr>
              <a:t>Sprint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64261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606676"/>
                </a:solidFill>
                <a:latin typeface="Calibri"/>
              </a:rPr>
              <a:t>08–19 Jun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6426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Foundations: requirements signed off, landing page, month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642616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B6B3A"/>
                </a:solidFill>
                <a:latin typeface="Calibri"/>
              </a:rPr>
              <a:t>Complete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99232"/>
            <a:ext cx="10908792" cy="39319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2999232"/>
            <a:ext cx="44450" cy="393192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1089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3654"/>
                </a:solidFill>
                <a:latin typeface="Calibri"/>
              </a:rPr>
              <a:t>Sprint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11810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606676"/>
                </a:solidFill>
                <a:latin typeface="Calibri"/>
              </a:rPr>
              <a:t>22 Jun–03 Jul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11810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Day writes, bulk apply, data-driven catalogue semantics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118104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B6B3A"/>
                </a:solidFill>
                <a:latin typeface="Calibri"/>
              </a:rPr>
              <a:t>Complete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474720"/>
            <a:ext cx="10908792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474720"/>
            <a:ext cx="44450" cy="393192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58444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3654"/>
                </a:solidFill>
                <a:latin typeface="Calibri"/>
              </a:rPr>
              <a:t>Sprint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5935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606676"/>
                </a:solidFill>
                <a:latin typeface="Calibri"/>
              </a:rPr>
              <a:t>06–17 Jul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5935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Shared rule layer extracted, month lock, deployment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59359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B6B3A"/>
                </a:solidFill>
                <a:latin typeface="Calibri"/>
              </a:rPr>
              <a:t>Complete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950208"/>
            <a:ext cx="10908792" cy="39319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3950208"/>
            <a:ext cx="44450" cy="393192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405993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3654"/>
                </a:solidFill>
                <a:latin typeface="Calibri"/>
              </a:rPr>
              <a:t>Sprint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4069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606676"/>
                </a:solidFill>
                <a:latin typeface="Calibri"/>
              </a:rPr>
              <a:t>20–31 Jul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069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Manager approval queue, calendar rules, test harness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406908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B6B3A"/>
                </a:solidFill>
                <a:latin typeface="Calibri"/>
              </a:rPr>
              <a:t>Complete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425696"/>
            <a:ext cx="10908792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" y="4425696"/>
            <a:ext cx="44450" cy="393192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453542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3654"/>
                </a:solidFill>
                <a:latin typeface="Calibri"/>
              </a:rPr>
              <a:t>Sprint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454456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606676"/>
                </a:solidFill>
                <a:latin typeface="Calibri"/>
              </a:rPr>
              <a:t>03–14 Aug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454456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Day correction with audit, Power BI model, evidence generator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4544568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B6B3A"/>
                </a:solidFill>
                <a:latin typeface="Calibri"/>
              </a:rPr>
              <a:t>Complete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901184"/>
            <a:ext cx="10908792" cy="39319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0080" y="4901184"/>
            <a:ext cx="44450" cy="393192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501091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3654"/>
                </a:solidFill>
                <a:latin typeface="Calibri"/>
              </a:rPr>
              <a:t>Sprint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0200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606676"/>
                </a:solidFill>
                <a:latin typeface="Calibri"/>
              </a:rPr>
              <a:t>17–28 Aug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03320" y="502005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History tab, money guard, reporting pages, metadata sweep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5020056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B6B3A"/>
                </a:solidFill>
                <a:latin typeface="Calibri"/>
              </a:rPr>
              <a:t>Complete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376672"/>
            <a:ext cx="10908792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080" y="5376672"/>
            <a:ext cx="44450" cy="393192"/>
          </a:xfrm>
          <a:prstGeom prst="rect">
            <a:avLst/>
          </a:prstGeom>
          <a:solidFill>
            <a:srgbClr val="F76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8680" y="54864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3654"/>
                </a:solidFill>
                <a:latin typeface="Calibri"/>
              </a:rPr>
              <a:t>Sprint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54955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606676"/>
                </a:solidFill>
                <a:latin typeface="Calibri"/>
              </a:rPr>
              <a:t>31 Aug–11 Sep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03320" y="549554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Instance retarget, generated documents, handover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5495544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B26A00"/>
                </a:solidFill>
                <a:latin typeface="Calibri"/>
              </a:rPr>
              <a:t>In progress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606676"/>
                </a:solidFill>
                <a:latin typeface="Calibri"/>
              </a:rPr>
              <a:t>Pre-build and six sprints complete · sprint 7 closes 11 September with the handover session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06676"/>
                </a:solidFill>
                <a:latin typeface="Calibri"/>
              </a:rPr>
              <a:t>ShiftPay · ServiceNow scoped application · status as at 3 September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81360" y="635508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6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F7662D"/>
                </a:solidFill>
                <a:latin typeface="Calibri"/>
              </a:rPr>
              <a:t>WHAT HAS BEEN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003654"/>
                </a:solidFill>
                <a:latin typeface="Calibri"/>
              </a:rPr>
              <a:t>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1750"/>
          </a:xfrm>
          <a:prstGeom prst="rect">
            <a:avLst/>
          </a:prstGeom>
          <a:solidFill>
            <a:srgbClr val="F76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06676"/>
                </a:solidFill>
                <a:latin typeface="Calibri"/>
              </a:rPr>
              <a:t>Three widgets over one shared rule layer, with a reporting layer and a test pack that both read the same data and reimplement none of the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566160" cy="3246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566160" cy="44450"/>
          </a:xfrm>
          <a:prstGeom prst="rect">
            <a:avLst/>
          </a:prstGeom>
          <a:solidFill>
            <a:srgbClr val="F76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3054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300" b="1" dirty="0">
                <a:solidFill>
                  <a:srgbClr val="003654"/>
                </a:solidFill>
                <a:latin typeface="Calibri"/>
              </a:rPr>
              <a:t>Service Portal widgets</a:t>
            </a:r>
          </a:p>
          <a:p>
            <a:pPr>
              <a:spcAft>
                <a:spcPts val="110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— Employee calendar — log a day, see CO entitlement, submit and lock a month</a:t>
            </a:r>
          </a:p>
          <a:p>
            <a:pPr>
              <a:spcAft>
                <a:spcPts val="110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— Manager approvals — queue, bulk actions, day correction with audit, history</a:t>
            </a:r>
          </a:p>
          <a:p>
            <a:pPr>
              <a:spcAft>
                <a:spcPts val="110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— Landing page — entry point for both journeys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103120"/>
            <a:ext cx="3566160" cy="3246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2103120"/>
            <a:ext cx="3566160" cy="44450"/>
          </a:xfrm>
          <a:prstGeom prst="rect">
            <a:avLst/>
          </a:prstGeom>
          <a:solidFill>
            <a:srgbClr val="F76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3054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300" b="1" dirty="0">
                <a:solidFill>
                  <a:srgbClr val="003654"/>
                </a:solidFill>
                <a:latin typeface="Calibri"/>
              </a:rPr>
              <a:t>Shared rule layer</a:t>
            </a:r>
          </a:p>
          <a:p>
            <a:pPr>
              <a:spcAft>
                <a:spcPts val="110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— Aggregator — weekly and monthly pay against a rate snapshot</a:t>
            </a:r>
          </a:p>
          <a:p>
            <a:pPr>
              <a:spcAft>
                <a:spcPts val="110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— Entitlements — compensatory-off lifecycle over a seven-weekday window</a:t>
            </a:r>
          </a:p>
          <a:p>
            <a:pPr>
              <a:spcAft>
                <a:spcPts val="110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— Calendar rules — catalogue, holidays, which shifts a user may 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4736" y="2103120"/>
            <a:ext cx="3566160" cy="3246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174736" y="2103120"/>
            <a:ext cx="3566160" cy="44450"/>
          </a:xfrm>
          <a:prstGeom prst="rect">
            <a:avLst/>
          </a:prstGeom>
          <a:solidFill>
            <a:srgbClr val="F76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2331720"/>
            <a:ext cx="3054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300" b="1" dirty="0">
                <a:solidFill>
                  <a:srgbClr val="003654"/>
                </a:solidFill>
                <a:latin typeface="Calibri"/>
              </a:rPr>
              <a:t>Reporting and assurance</a:t>
            </a:r>
          </a:p>
          <a:p>
            <a:pPr>
              <a:spcAft>
                <a:spcPts val="110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— Power BI — read-only, money from the snapshot, never live rates</a:t>
            </a:r>
          </a:p>
          <a:p>
            <a:pPr>
              <a:spcAft>
                <a:spcPts val="110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— Test pack — harness and CI from May, 40 cases, 9 automated, Word evidence</a:t>
            </a:r>
          </a:p>
          <a:p>
            <a:pPr>
              <a:spcAft>
                <a:spcPts val="1100"/>
              </a:spcAft>
            </a:pPr>
            <a:r>
              <a:rPr sz="1050" b="0" dirty="0">
                <a:solidFill>
                  <a:srgbClr val="1A1A1A"/>
                </a:solidFill>
                <a:latin typeface="Calibri"/>
              </a:rPr>
              <a:t>— Documents — requirements, technical design, test cases, setup runbook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32120"/>
            <a:ext cx="1090879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003654"/>
                </a:solidFill>
                <a:latin typeface="Calibri"/>
              </a:rPr>
              <a:t>Two rules the delivery holds to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606676"/>
                </a:solidFill>
                <a:latin typeface="Calibri"/>
              </a:rPr>
              <a:t>Money is read from the summary snapshot and never from live catalogue rates  ·  shift meaning lives in catalogue columns keyed by sys_id, so renaming a shift type changes no behaviour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06676"/>
                </a:solidFill>
                <a:latin typeface="Calibri"/>
              </a:rPr>
              <a:t>ShiftPay · ServiceNow scoped application · status as at 3 September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35508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67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F7662D"/>
                </a:solidFill>
                <a:latin typeface="Calibri"/>
              </a:rPr>
              <a:t>WHAT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>
                <a:solidFill>
                  <a:srgbClr val="003654"/>
                </a:solidFill>
                <a:latin typeface="Calibr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1750"/>
          </a:xfrm>
          <a:prstGeom prst="rect">
            <a:avLst/>
          </a:prstGeom>
          <a:solidFill>
            <a:srgbClr val="F76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06676"/>
                </a:solidFill>
                <a:latin typeface="Calibri"/>
              </a:rPr>
              <a:t>83 of 100 items closed. 4 defects stay open deliberately — the test pack is expected to fail on them, and a fully green run would mean the assertions had broken.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35661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3566160" cy="4572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3054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Now — in flight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16352"/>
            <a:ext cx="305409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— SP-58 weekend catalogue fix, prepared and awaiting a verified re-run</a:t>
            </a:r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— SP-57 P1: server refusals invisible, calendar repaints as success</a:t>
            </a:r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— SP-59 · SP-60 · SP-61 open findings held on the board, not hidden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2148840"/>
            <a:ext cx="35661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2148840"/>
            <a:ext cx="3566160" cy="457200"/>
          </a:xfrm>
          <a:prstGeom prst="rect">
            <a:avLst/>
          </a:prstGeom>
          <a:solidFill>
            <a:srgbClr val="006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267712"/>
            <a:ext cx="3054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Next — to 11 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16352"/>
            <a:ext cx="305409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— Close the P1 and re-run the pack to confirm the case turns green</a:t>
            </a:r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— SP-76 handover session: widget contract, rule layer, deployment traps</a:t>
            </a:r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— Final document regeneration from source for the handover pack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2148840"/>
            <a:ext cx="35661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74736" y="2148840"/>
            <a:ext cx="3566160" cy="457200"/>
          </a:xfrm>
          <a:prstGeom prst="rect">
            <a:avLst/>
          </a:prstGeom>
          <a:solidFill>
            <a:srgbClr val="606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2267712"/>
            <a:ext cx="3054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Later — phase two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816352"/>
            <a:ext cx="305409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— Approval audit table so a resubmission cannot erase a rejection</a:t>
            </a:r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— Table ACLs, payroll export, scheduled dataset refresh</a:t>
            </a:r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— Half-day support and responsive calendar — needs a requirements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413248"/>
            <a:ext cx="10908792" cy="777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55955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003654"/>
                </a:solidFill>
                <a:latin typeface="Calibri"/>
              </a:rPr>
              <a:t>Decision needed from the sponsor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606676"/>
                </a:solidFill>
                <a:latin typeface="Calibri"/>
              </a:rPr>
              <a:t>Table ACLs were scoped out of the proof of concept by agreement. Production use needs them written, and the widget-level guards that stand in for them today must stay rigorous either way.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606676"/>
                </a:solidFill>
                <a:latin typeface="Calibri"/>
              </a:rPr>
              <a:t>ShiftPay · ServiceNow scoped application · status as at 3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5508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67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829</Words>
  <Application>Microsoft Office PowerPoint</Application>
  <PresentationFormat>Widescreen</PresentationFormat>
  <Paragraphs>107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 Veeramreddy</cp:lastModifiedBy>
  <cp:revision>2</cp:revision>
  <dcterms:created xsi:type="dcterms:W3CDTF">2013-01-27T09:14:16Z</dcterms:created>
  <dcterms:modified xsi:type="dcterms:W3CDTF">2026-09-07T15:04:10Z</dcterms:modified>
  <cp:category/>
</cp:coreProperties>
</file>